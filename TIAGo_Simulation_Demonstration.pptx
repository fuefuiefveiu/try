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dark.jpg"/>
          <p:cNvPicPr>
            <a:picLocks noChangeAspect="1"/>
          </p:cNvPicPr>
          <p:nvPr/>
        </p:nvPicPr>
        <p:blipFill>
          <a:blip r:embed="rId2"/>
          <a:srcRect l="2093" r="209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" y="566928"/>
            <a:ext cx="73152" cy="5212080"/>
          </a:xfrm>
          <a:prstGeom prst="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713232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BB7C4"/>
                </a:solidFill>
                <a:latin typeface="Arial"/>
              </a:rPr>
              <a:t>TIAGO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34440"/>
            <a:ext cx="7772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rial"/>
              </a:rPr>
              <a:t>TIAGo Robot Simulation
in ROS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063240"/>
            <a:ext cx="7132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BF0F6"/>
                </a:solidFill>
                <a:latin typeface="Arial"/>
              </a:rPr>
              <a:t>Environment Setup, Gazebo Worlds,
Autonomous Navigation, and MoveIt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343400"/>
            <a:ext cx="2148840" cy="274320"/>
          </a:xfrm>
          <a:prstGeom prst="round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357116"/>
            <a:ext cx="2148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SIMULATION 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8280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C3D3"/>
                </a:solidFill>
                <a:latin typeface="Arial"/>
              </a:rPr>
              <a:t>ROS 2 Humble  | 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60807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7C3D3"/>
                </a:solidFill>
                <a:latin typeface="Arial"/>
              </a:rPr>
              <a:t>PAL Robotics public TIAGo simulation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7422"/>
                </a:solidFill>
                <a:latin typeface="Arial"/>
              </a:rPr>
              <a:t>01 ·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rial"/>
              </a:rPr>
              <a:t>Validated Simulation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C3D3"/>
                </a:solidFill>
                <a:latin typeface="Arial"/>
              </a:rPr>
              <a:t>A reproducible ROS 2 stack running on a Windows workstation through WSL2.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960120"/>
          </a:xfrm>
          <a:prstGeom prst="roundRect">
            <a:avLst/>
          </a:prstGeom>
          <a:solidFill>
            <a:srgbClr val="1C293E"/>
          </a:solidFill>
          <a:ln w="12700">
            <a:solidFill>
              <a:srgbClr val="37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960120"/>
          </a:xfrm>
          <a:prstGeom prst="rect">
            <a:avLst/>
          </a:prstGeom>
          <a:solidFill>
            <a:srgbClr val="2BB7C4"/>
          </a:solidFill>
          <a:ln w="12700">
            <a:solidFill>
              <a:srgbClr val="2B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5506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7C3D3"/>
                </a:solidFill>
                <a:latin typeface="Arial"/>
              </a:rPr>
              <a:t>HOST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47088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rial"/>
              </a:rPr>
              <a:t>Windows + WSL2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508760"/>
            <a:ext cx="3429000" cy="960120"/>
          </a:xfrm>
          <a:prstGeom prst="roundRect">
            <a:avLst/>
          </a:prstGeom>
          <a:solidFill>
            <a:srgbClr val="1C293E"/>
          </a:solidFill>
          <a:ln w="12700">
            <a:solidFill>
              <a:srgbClr val="37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508760"/>
            <a:ext cx="64008" cy="960120"/>
          </a:xfrm>
          <a:prstGeom prst="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65506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7C3D3"/>
                </a:solidFill>
                <a:latin typeface="Arial"/>
              </a:rPr>
              <a:t>LINUX DISTRIBUTION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847088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rial"/>
              </a:rPr>
              <a:t>Ubuntu 22.04.5 LTS · x86_64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3429000" cy="960120"/>
          </a:xfrm>
          <a:prstGeom prst="roundRect">
            <a:avLst/>
          </a:prstGeom>
          <a:solidFill>
            <a:srgbClr val="1C293E"/>
          </a:solidFill>
          <a:ln w="12700">
            <a:solidFill>
              <a:srgbClr val="37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43200"/>
            <a:ext cx="64008" cy="960120"/>
          </a:xfrm>
          <a:prstGeom prst="rect">
            <a:avLst/>
          </a:prstGeom>
          <a:solidFill>
            <a:srgbClr val="2BB7C4"/>
          </a:solidFill>
          <a:ln w="12700">
            <a:solidFill>
              <a:srgbClr val="2B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88950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7C3D3"/>
                </a:solidFill>
                <a:latin typeface="Arial"/>
              </a:rPr>
              <a:t>ROBOTICS MIDDLEWARE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081528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rial"/>
              </a:rPr>
              <a:t>ROS 2 Humble · Cyclone DDS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2743200"/>
            <a:ext cx="3429000" cy="960120"/>
          </a:xfrm>
          <a:prstGeom prst="roundRect">
            <a:avLst/>
          </a:prstGeom>
          <a:solidFill>
            <a:srgbClr val="1C293E"/>
          </a:solidFill>
          <a:ln w="12700">
            <a:solidFill>
              <a:srgbClr val="37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2743200"/>
            <a:ext cx="64008" cy="960120"/>
          </a:xfrm>
          <a:prstGeom prst="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2889504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7C3D3"/>
                </a:solidFill>
                <a:latin typeface="Arial"/>
              </a:rPr>
              <a:t>SIMULATOR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3081528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rial"/>
              </a:rPr>
              <a:t>Gazebo Classic · WSLg / D3D12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77639"/>
            <a:ext cx="3429000" cy="960120"/>
          </a:xfrm>
          <a:prstGeom prst="roundRect">
            <a:avLst/>
          </a:prstGeom>
          <a:solidFill>
            <a:srgbClr val="1C293E"/>
          </a:solidFill>
          <a:ln w="12700">
            <a:solidFill>
              <a:srgbClr val="37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77639"/>
            <a:ext cx="64008" cy="960120"/>
          </a:xfrm>
          <a:prstGeom prst="rect">
            <a:avLst/>
          </a:prstGeom>
          <a:solidFill>
            <a:srgbClr val="2BB7C4"/>
          </a:solidFill>
          <a:ln w="12700">
            <a:solidFill>
              <a:srgbClr val="2B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123943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7C3D3"/>
                </a:solidFill>
                <a:latin typeface="Arial"/>
              </a:rPr>
              <a:t>ROBOT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315967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rial"/>
              </a:rPr>
              <a:t>PAL TIAGo public simulation
humble-devel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977639"/>
            <a:ext cx="3429000" cy="960120"/>
          </a:xfrm>
          <a:prstGeom prst="roundRect">
            <a:avLst/>
          </a:prstGeom>
          <a:solidFill>
            <a:srgbClr val="1C293E"/>
          </a:solidFill>
          <a:ln w="12700">
            <a:solidFill>
              <a:srgbClr val="37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3977639"/>
            <a:ext cx="64008" cy="960120"/>
          </a:xfrm>
          <a:prstGeom prst="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4123943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B7C3D3"/>
                </a:solidFill>
                <a:latin typeface="Arial"/>
              </a:rP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315967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rial"/>
              </a:rPr>
              <a:t>RViz2 · Nav2 · MoveIt 2
ros2_control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1554480"/>
            <a:ext cx="3429000" cy="530352"/>
          </a:xfrm>
          <a:prstGeom prst="roundRect">
            <a:avLst/>
          </a:prstGeom>
          <a:solidFill>
            <a:srgbClr val="1C293E"/>
          </a:solidFill>
          <a:ln w="1905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1554480"/>
            <a:ext cx="73152" cy="530352"/>
          </a:xfrm>
          <a:prstGeom prst="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6733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rial"/>
              </a:rPr>
              <a:t>Nav2 / MoveIt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2313432"/>
            <a:ext cx="3429000" cy="530352"/>
          </a:xfrm>
          <a:prstGeom prst="roundRect">
            <a:avLst/>
          </a:prstGeom>
          <a:solidFill>
            <a:srgbClr val="1C293E"/>
          </a:solidFill>
          <a:ln w="19050">
            <a:solidFill>
              <a:srgbClr val="2B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92440" y="2313432"/>
            <a:ext cx="73152" cy="530352"/>
          </a:xfrm>
          <a:prstGeom prst="rect">
            <a:avLst/>
          </a:prstGeom>
          <a:solidFill>
            <a:srgbClr val="2BB7C4"/>
          </a:solidFill>
          <a:ln w="12700">
            <a:solidFill>
              <a:srgbClr val="2B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432304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rial"/>
              </a:rPr>
              <a:t>TIAGo ROS 2 Packages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3072384"/>
            <a:ext cx="3429000" cy="530352"/>
          </a:xfrm>
          <a:prstGeom prst="roundRect">
            <a:avLst/>
          </a:prstGeom>
          <a:solidFill>
            <a:srgbClr val="1C293E"/>
          </a:solidFill>
          <a:ln w="19050">
            <a:solidFill>
              <a:srgbClr val="4F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3072384"/>
            <a:ext cx="73152" cy="530352"/>
          </a:xfrm>
          <a:prstGeom prst="rect">
            <a:avLst/>
          </a:prstGeom>
          <a:solidFill>
            <a:srgbClr val="4FBE87"/>
          </a:solidFill>
          <a:ln w="12700">
            <a:solidFill>
              <a:srgbClr val="4F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19125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rial"/>
              </a:rPr>
              <a:t>ROS 2 Humble + Cyclone DDS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831336"/>
            <a:ext cx="3429000" cy="530352"/>
          </a:xfrm>
          <a:prstGeom prst="roundRect">
            <a:avLst/>
          </a:prstGeom>
          <a:solidFill>
            <a:srgbClr val="1C293E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3831336"/>
            <a:ext cx="73152" cy="5303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395020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rial"/>
              </a:rPr>
              <a:t>Ubuntu 22.04 on WSL2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4590288"/>
            <a:ext cx="3429000" cy="530352"/>
          </a:xfrm>
          <a:prstGeom prst="roundRect">
            <a:avLst/>
          </a:prstGeom>
          <a:solidFill>
            <a:srgbClr val="1C293E"/>
          </a:solidFill>
          <a:ln w="19050">
            <a:solidFill>
              <a:srgbClr val="6C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92440" y="4590288"/>
            <a:ext cx="73152" cy="530352"/>
          </a:xfrm>
          <a:prstGeom prst="rect">
            <a:avLst/>
          </a:prstGeom>
          <a:solidFill>
            <a:srgbClr val="6C7E94"/>
          </a:solidFill>
          <a:ln w="12700">
            <a:solidFill>
              <a:srgbClr val="6C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70916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rial"/>
              </a:rPr>
              <a:t>Windows Workstation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5715000"/>
            <a:ext cx="3429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7C3D3"/>
                </a:solidFill>
                <a:latin typeface="Arial"/>
              </a:rPr>
              <a:t>Public simulation — no physical robot required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4869D"/>
                </a:solidFill>
                <a:latin typeface="Arial"/>
              </a:rPr>
              <a:t>TIAGo Robot Simulation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7E8C9E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7422"/>
                </a:solidFill>
                <a:latin typeface="Arial"/>
              </a:rPr>
              <a:t>01 ·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2434"/>
                </a:solidFill>
                <a:latin typeface="Arial"/>
              </a:rPr>
              <a:t>From User Input to Simulated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074"/>
                </a:solidFill>
                <a:latin typeface="Arial"/>
              </a:rPr>
              <a:t>The same ROS 2 interfaces connect visualization, planning, controllers, and the virtual robot.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2395728" cy="15087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2B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74519"/>
            <a:ext cx="2395728" cy="100584"/>
          </a:xfrm>
          <a:prstGeom prst="rect">
            <a:avLst/>
          </a:prstGeom>
          <a:solidFill>
            <a:srgbClr val="2BB7C4"/>
          </a:solidFill>
          <a:ln w="12700">
            <a:solidFill>
              <a:srgbClr val="2B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39"/>
            <a:ext cx="2066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A2434"/>
                </a:solidFill>
                <a:latin typeface="Arial"/>
              </a:rPr>
              <a:t>RViz2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59"/>
            <a:ext cx="2066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16074"/>
                </a:solidFill>
                <a:latin typeface="Arial"/>
              </a:rPr>
              <a:t>Goal pose or
interactive marker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27248" y="2624327"/>
            <a:ext cx="374903" cy="0"/>
          </a:xfrm>
          <a:prstGeom prst="line">
            <a:avLst/>
          </a:prstGeom>
          <a:ln w="27940">
            <a:solidFill>
              <a:srgbClr val="E774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75303" y="1874519"/>
            <a:ext cx="2395728" cy="15087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75303" y="1874519"/>
            <a:ext cx="2395728" cy="100584"/>
          </a:xfrm>
          <a:prstGeom prst="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9895" y="2148839"/>
            <a:ext cx="2066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A2434"/>
                </a:solidFill>
                <a:latin typeface="Arial"/>
              </a:rPr>
              <a:t>Nav2 / MoveIt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5" y="2651759"/>
            <a:ext cx="2066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16074"/>
                </a:solidFill>
                <a:latin typeface="Arial"/>
              </a:rPr>
              <a:t>Path or arm
trajectory planning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44183" y="2624327"/>
            <a:ext cx="374903" cy="0"/>
          </a:xfrm>
          <a:prstGeom prst="line">
            <a:avLst/>
          </a:prstGeom>
          <a:ln w="27940">
            <a:solidFill>
              <a:srgbClr val="E774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92238" y="1874519"/>
            <a:ext cx="2395728" cy="15087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4F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38" y="1874519"/>
            <a:ext cx="2395728" cy="100584"/>
          </a:xfrm>
          <a:prstGeom prst="rect">
            <a:avLst/>
          </a:prstGeom>
          <a:solidFill>
            <a:srgbClr val="4FBE87"/>
          </a:solidFill>
          <a:ln w="12700">
            <a:solidFill>
              <a:srgbClr val="4F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0" y="2148839"/>
            <a:ext cx="2066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A2434"/>
                </a:solidFill>
                <a:latin typeface="Arial"/>
              </a:rPr>
              <a:t>ROS 2 Controllers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0" y="2651759"/>
            <a:ext cx="2066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16074"/>
                </a:solidFill>
                <a:latin typeface="Arial"/>
              </a:rPr>
              <a:t>Velocity and joint
trajectory commands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18" y="2624327"/>
            <a:ext cx="374903" cy="0"/>
          </a:xfrm>
          <a:prstGeom prst="line">
            <a:avLst/>
          </a:prstGeom>
          <a:ln w="27940">
            <a:solidFill>
              <a:srgbClr val="E774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09173" y="1874519"/>
            <a:ext cx="2395728" cy="15087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09173" y="1874519"/>
            <a:ext cx="2395728" cy="100584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5" y="2148839"/>
            <a:ext cx="20665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A2434"/>
                </a:solidFill>
                <a:latin typeface="Arial"/>
              </a:rPr>
              <a:t>Gazebo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5" y="2651759"/>
            <a:ext cx="2066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16074"/>
                </a:solidFill>
                <a:latin typeface="Arial"/>
              </a:rPr>
              <a:t>Physics, collision,
and robot motion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60520"/>
            <a:ext cx="9921240" cy="960120"/>
          </a:xfrm>
          <a:prstGeom prst="roundRect">
            <a:avLst/>
          </a:prstGeom>
          <a:solidFill>
            <a:srgbClr val="DEE7EF"/>
          </a:solidFill>
          <a:ln w="12700">
            <a:solidFill>
              <a:srgbClr val="CA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43708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77422"/>
                </a:solidFill>
                <a:latin typeface="Arial"/>
              </a:rPr>
              <a:t>Feedback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270248"/>
            <a:ext cx="79095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434"/>
                </a:solidFill>
                <a:latin typeface="Arial"/>
              </a:rPr>
              <a:t>Gazebo publishes joint states, odometry, laser scans, and TF back to ROS 2. RViz2 visualizes this feedback while planners continuously update their internal state.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715000"/>
            <a:ext cx="9921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16074"/>
                </a:solidFill>
                <a:latin typeface="Arial"/>
              </a:rPr>
              <a:t>Cyclone DDS transports ROS 2 messages between the running nodes.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E8C9E"/>
                </a:solidFill>
                <a:latin typeface="Arial"/>
              </a:rPr>
              <a:t>TIAGo Robot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E8C9E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7422"/>
                </a:solidFill>
                <a:latin typeface="Arial"/>
              </a:rPr>
              <a:t>02 · GAZEBO WORLDS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rial"/>
              </a:rPr>
              <a:t>Multiple Simulation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C3D3"/>
                </a:solidFill>
                <a:latin typeface="Arial"/>
              </a:rPr>
              <a:t>The same TIAGo software stack was launched in three structurally different worlds.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3657600" cy="4370832"/>
          </a:xfrm>
          <a:prstGeom prst="roundRect">
            <a:avLst/>
          </a:prstGeom>
          <a:solidFill>
            <a:srgbClr val="1C293E"/>
          </a:solidFill>
          <a:ln w="12700">
            <a:solidFill>
              <a:srgbClr val="37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spital.jpeg"/>
          <p:cNvPicPr>
            <a:picLocks noChangeAspect="1"/>
          </p:cNvPicPr>
          <p:nvPr/>
        </p:nvPicPr>
        <p:blipFill>
          <a:blip r:embed="rId2"/>
          <a:srcRect l="10264" r="10264"/>
          <a:stretch>
            <a:fillRect/>
          </a:stretch>
        </p:blipFill>
        <p:spPr>
          <a:xfrm>
            <a:off x="676656" y="1627632"/>
            <a:ext cx="3438144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17880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rial"/>
              </a:rPr>
              <a:t>Hospital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C3D3"/>
                </a:solidFill>
                <a:latin typeface="Arial"/>
              </a:rPr>
              <a:t>Long corridors and an irregular floor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58384"/>
            <a:ext cx="960120" cy="274320"/>
          </a:xfrm>
          <a:prstGeom prst="roundRect">
            <a:avLst/>
          </a:prstGeom>
          <a:solidFill>
            <a:srgbClr val="2BB7C4"/>
          </a:solidFill>
          <a:ln w="12700">
            <a:solidFill>
              <a:srgbClr val="2B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72100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WORLD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508760"/>
            <a:ext cx="3657600" cy="4370832"/>
          </a:xfrm>
          <a:prstGeom prst="roundRect">
            <a:avLst/>
          </a:prstGeom>
          <a:solidFill>
            <a:srgbClr val="1C293E"/>
          </a:solidFill>
          <a:ln w="12700">
            <a:solidFill>
              <a:srgbClr val="37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actory.jpeg"/>
          <p:cNvPicPr>
            <a:picLocks noChangeAspect="1"/>
          </p:cNvPicPr>
          <p:nvPr/>
        </p:nvPicPr>
        <p:blipFill>
          <a:blip r:embed="rId3"/>
          <a:srcRect l="10264" r="10264"/>
          <a:stretch>
            <a:fillRect/>
          </a:stretch>
        </p:blipFill>
        <p:spPr>
          <a:xfrm>
            <a:off x="4553712" y="1627632"/>
            <a:ext cx="3438144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8576" y="417880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rial"/>
              </a:rPr>
              <a:t>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461772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C3D3"/>
                </a:solidFill>
                <a:latin typeface="Arial"/>
              </a:rPr>
              <a:t>Large connected areas with multiple regions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576" y="5358384"/>
            <a:ext cx="960120" cy="274320"/>
          </a:xfrm>
          <a:prstGeom prst="roundRect">
            <a:avLst/>
          </a:prstGeom>
          <a:solidFill>
            <a:srgbClr val="2BB7C4"/>
          </a:solidFill>
          <a:ln w="12700">
            <a:solidFill>
              <a:srgbClr val="2B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8576" y="5372100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WORLD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508760"/>
            <a:ext cx="3657600" cy="4370832"/>
          </a:xfrm>
          <a:prstGeom prst="roundRect">
            <a:avLst/>
          </a:prstGeom>
          <a:solidFill>
            <a:srgbClr val="1C293E"/>
          </a:solidFill>
          <a:ln w="12700">
            <a:solidFill>
              <a:srgbClr val="37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al_office.jpeg"/>
          <p:cNvPicPr>
            <a:picLocks noChangeAspect="1"/>
          </p:cNvPicPr>
          <p:nvPr/>
        </p:nvPicPr>
        <p:blipFill>
          <a:blip r:embed="rId4"/>
          <a:srcRect l="10264" r="10264"/>
          <a:stretch>
            <a:fillRect/>
          </a:stretch>
        </p:blipFill>
        <p:spPr>
          <a:xfrm>
            <a:off x="8430768" y="1627632"/>
            <a:ext cx="3438144" cy="2331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85632" y="417880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rial"/>
              </a:rPr>
              <a:t>PAL Office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617720"/>
            <a:ext cx="3246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C3D3"/>
                </a:solidFill>
                <a:latin typeface="Arial"/>
              </a:rPr>
              <a:t>Dense rooms, doors, and narrow passages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85632" y="5358384"/>
            <a:ext cx="960120" cy="274320"/>
          </a:xfrm>
          <a:prstGeom prst="round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5372100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WORLD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153912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B7C3D3"/>
                </a:solidFill>
                <a:latin typeface="Arial"/>
              </a:rPr>
              <a:t>World selection changes geometry while preserving the robot, controllers, and ROS 2 interfaces.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4869D"/>
                </a:solidFill>
                <a:latin typeface="Arial"/>
              </a:rPr>
              <a:t>TIAGo Robot Simulation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7E8C9E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7422"/>
                </a:solidFill>
                <a:latin typeface="Arial"/>
              </a:rPr>
              <a:t>03 ·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2434"/>
                </a:solidFill>
                <a:latin typeface="Arial"/>
              </a:rPr>
              <a:t>Nav2 Goal Selection in RViz2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074"/>
                </a:solidFill>
                <a:latin typeface="Arial"/>
              </a:rPr>
              <a:t>The target pose is selected in RViz2; Nav2 converts it into motion commands for the simulated 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389888"/>
            <a:ext cx="7059168" cy="4800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igation_interfac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419" y="1389888"/>
            <a:ext cx="6062328" cy="4800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" y="1426464"/>
            <a:ext cx="3584448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E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719072"/>
            <a:ext cx="1371600" cy="274320"/>
          </a:xfrm>
          <a:prstGeom prst="roundRect">
            <a:avLst/>
          </a:prstGeom>
          <a:solidFill>
            <a:srgbClr val="2BB7C4"/>
          </a:solidFill>
          <a:ln w="12700">
            <a:solidFill>
              <a:srgbClr val="2B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32788"/>
            <a:ext cx="13716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RVIZ2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971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434"/>
                </a:solidFill>
                <a:latin typeface="Arial"/>
              </a:rPr>
              <a:t>Visible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633472"/>
            <a:ext cx="2944368" cy="2148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  <a:defRPr sz="1400">
                <a:solidFill>
                  <a:srgbClr val="516074"/>
                </a:solidFill>
                <a:latin typeface="Arial"/>
              </a:defRPr>
            </a:pPr>
            <a:r>
              <a:t>•  2D occupancy map of the office environment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400">
                <a:solidFill>
                  <a:srgbClr val="516074"/>
                </a:solidFill>
                <a:latin typeface="Arial"/>
              </a:defRPr>
            </a:pPr>
            <a:r>
              <a:t>•  Inflated cost regions around walls and obstacles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400">
                <a:solidFill>
                  <a:srgbClr val="516074"/>
                </a:solidFill>
                <a:latin typeface="Arial"/>
              </a:defRPr>
            </a:pPr>
            <a:r>
              <a:t>•  Live laser measurements around the robot</a:t>
            </a:r>
          </a:p>
          <a:p>
            <a:pPr>
              <a:lnSpc>
                <a:spcPct val="108000"/>
              </a:lnSpc>
              <a:spcAft>
                <a:spcPts val="1100"/>
              </a:spcAft>
              <a:defRPr sz="1400">
                <a:solidFill>
                  <a:srgbClr val="516074"/>
                </a:solidFill>
                <a:latin typeface="Arial"/>
              </a:defRPr>
            </a:pPr>
            <a:r>
              <a:t>•  Nav2 Goal tool for defining position and orientation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5074920"/>
            <a:ext cx="2926080" cy="658368"/>
          </a:xfrm>
          <a:prstGeom prst="roundRect">
            <a:avLst/>
          </a:prstGeom>
          <a:solidFill>
            <a:srgbClr val="E8EFF4"/>
          </a:solidFill>
          <a:ln w="12700"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285232"/>
            <a:ext cx="261518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A2434"/>
                </a:solidFill>
                <a:latin typeface="Arial"/>
              </a:rPr>
              <a:t>Nav2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E8C9E"/>
                </a:solidFill>
                <a:latin typeface="Arial"/>
              </a:rPr>
              <a:t>TIAGo Robot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7E8C9E"/>
                </a:solidFill>
                <a:latin typeface="Arial"/>
              </a:rPr>
              <a:t>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4848" y="1536192"/>
            <a:ext cx="640080" cy="228600"/>
          </a:xfrm>
          <a:prstGeom prst="roundRect">
            <a:avLst/>
          </a:prstGeom>
          <a:noFill/>
          <a:ln w="3175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62672" y="1874519"/>
            <a:ext cx="1115568" cy="329184"/>
          </a:xfrm>
          <a:prstGeom prst="roundRect">
            <a:avLst/>
          </a:prstGeom>
          <a:solidFill>
            <a:srgbClr val="E77422"/>
          </a:solidFill>
          <a:ln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NAV2 GOAL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7424928" y="1650492"/>
            <a:ext cx="237744" cy="388619"/>
          </a:xfrm>
          <a:prstGeom prst="line">
            <a:avLst/>
          </a:prstGeom>
          <a:ln w="25400">
            <a:solidFill>
              <a:srgbClr val="E774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7422"/>
                </a:solidFill>
                <a:latin typeface="Arial"/>
              </a:rPr>
              <a:t>03 ·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rial"/>
              </a:rPr>
              <a:t>Navigation Execution in Gazebo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C3D3"/>
                </a:solidFill>
                <a:latin typeface="Arial"/>
              </a:rPr>
              <a:t>The video shows the physical execution result after a navigation target was issued.</a:t>
            </a:r>
          </a:p>
        </p:txBody>
      </p:sp>
      <p:pic>
        <p:nvPicPr>
          <p:cNvPr id="5" name="navigation_fc8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1792" y="1417320"/>
            <a:ext cx="8412480" cy="45354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308592" y="1417320"/>
            <a:ext cx="2240280" cy="4535424"/>
          </a:xfrm>
          <a:prstGeom prst="roundRect">
            <a:avLst/>
          </a:prstGeom>
          <a:solidFill>
            <a:srgbClr val="1C293E"/>
          </a:solidFill>
          <a:ln w="12700">
            <a:solidFill>
              <a:srgbClr val="37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82912" y="1719072"/>
            <a:ext cx="1051560" cy="274320"/>
          </a:xfrm>
          <a:prstGeom prst="round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82912" y="1732788"/>
            <a:ext cx="1051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12 s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2912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rial"/>
              </a:rPr>
              <a:t>Observed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2912" y="2670048"/>
            <a:ext cx="1691640" cy="21488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EBF0F6"/>
                </a:solidFill>
                <a:latin typeface="Arial"/>
              </a:defRPr>
            </a:pPr>
            <a:r>
              <a:t>•  Starts from rest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EBF0F6"/>
                </a:solidFill>
                <a:latin typeface="Arial"/>
              </a:defRPr>
            </a:pPr>
            <a:r>
              <a:t>•  Moves smoothly through the office corridor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EBF0F6"/>
                </a:solidFill>
                <a:latin typeface="Arial"/>
              </a:defRPr>
            </a:pPr>
            <a:r>
              <a:t>•  Turns toward the right-side passage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300">
                <a:solidFill>
                  <a:srgbClr val="EBF0F6"/>
                </a:solidFill>
                <a:latin typeface="Arial"/>
              </a:defRPr>
            </a:pPr>
            <a:r>
              <a:t>•  Stops near the requested destination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2912" y="5358384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BB7C4"/>
                </a:solidFill>
                <a:latin typeface="Arial"/>
              </a:rPr>
              <a:t>Click the video to 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447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C3D3"/>
                </a:solidFill>
                <a:latin typeface="Arial"/>
              </a:rPr>
              <a:t>Scope: point-to-point navigation execution; the planning interface is shown on the previous slide.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4869D"/>
                </a:solidFill>
                <a:latin typeface="Arial"/>
              </a:rPr>
              <a:t>TIAGo Robot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7E8C9E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7422"/>
                </a:solidFill>
                <a:latin typeface="Arial"/>
              </a:rPr>
              <a:t>04 · MOVEIT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2434"/>
                </a:solidFill>
                <a:latin typeface="Arial"/>
              </a:rPr>
              <a:t>Interactive Arm Planning in RViz2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074"/>
                </a:solidFill>
                <a:latin typeface="Arial"/>
              </a:rPr>
              <a:t>MoveIt 2 uses the current robot state and an interactive end-effector target to generate a joint trajectory.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371600"/>
            <a:ext cx="7315200" cy="48006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veit_interfac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89507"/>
            <a:ext cx="7315200" cy="3964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" y="1417320"/>
            <a:ext cx="3310128" cy="46817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E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700784"/>
            <a:ext cx="1481328" cy="274320"/>
          </a:xfrm>
          <a:prstGeom prst="round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14500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MOTION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76272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434"/>
                </a:solidFill>
                <a:latin typeface="Arial"/>
              </a:rPr>
              <a:t>Workflow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670048"/>
            <a:ext cx="320040" cy="320040"/>
          </a:xfrm>
          <a:prstGeom prst="ellipse">
            <a:avLst/>
          </a:prstGeom>
          <a:solidFill>
            <a:srgbClr val="E77422"/>
          </a:solidFill>
          <a:ln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320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651760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16074"/>
                </a:solidFill>
                <a:latin typeface="Arial"/>
              </a:rPr>
              <a:t>Select the arm planning group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28415"/>
            <a:ext cx="320040" cy="320040"/>
          </a:xfrm>
          <a:prstGeom prst="ellipse">
            <a:avLst/>
          </a:prstGeom>
          <a:solidFill>
            <a:srgbClr val="E77422"/>
          </a:solidFill>
          <a:ln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46703"/>
            <a:ext cx="320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310127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16074"/>
                </a:solidFill>
                <a:latin typeface="Arial"/>
              </a:rPr>
              <a:t>Set the goal pose with the 6-DoF marker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86783"/>
            <a:ext cx="320040" cy="320040"/>
          </a:xfrm>
          <a:prstGeom prst="ellipse">
            <a:avLst/>
          </a:prstGeom>
          <a:solidFill>
            <a:srgbClr val="E77422"/>
          </a:solidFill>
          <a:ln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1"/>
            <a:ext cx="320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968495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16074"/>
                </a:solidFill>
                <a:latin typeface="Arial"/>
              </a:rPr>
              <a:t>Generate a collision-aware trajectory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45152"/>
            <a:ext cx="320040" cy="320040"/>
          </a:xfrm>
          <a:prstGeom prst="ellipse">
            <a:avLst/>
          </a:prstGeom>
          <a:solidFill>
            <a:srgbClr val="E77422"/>
          </a:solidFill>
          <a:ln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320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26864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16074"/>
                </a:solidFill>
                <a:latin typeface="Arial"/>
              </a:rPr>
              <a:t>Execute through ros2_control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5440680"/>
            <a:ext cx="2724912" cy="438912"/>
          </a:xfrm>
          <a:prstGeom prst="roundRect">
            <a:avLst/>
          </a:prstGeom>
          <a:solidFill>
            <a:srgbClr val="E8EFF4"/>
          </a:solidFill>
          <a:ln w="12700">
            <a:solidFill>
              <a:srgbClr val="D4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5568696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A2434"/>
                </a:solidFill>
                <a:latin typeface="Arial"/>
              </a:rPr>
              <a:t>Demo scope: free-space arm motion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E8C9E"/>
                </a:solidFill>
                <a:latin typeface="Arial"/>
              </a:rPr>
              <a:t>TIAGo Robot Simulation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7E8C9E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7422"/>
                </a:solidFill>
                <a:latin typeface="Arial"/>
              </a:rPr>
              <a:t>04 · MOVEIT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rial"/>
              </a:rPr>
              <a:t>Planned Arm Trajectory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7C3D3"/>
                </a:solidFill>
                <a:latin typeface="Arial"/>
              </a:rPr>
              <a:t>The generated trajectory is executed by the simulated TIAGo arm in Gazebo.</a:t>
            </a:r>
          </a:p>
        </p:txBody>
      </p:sp>
      <p:pic>
        <p:nvPicPr>
          <p:cNvPr id="5" name="manipualtion_e04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1792" y="1417320"/>
            <a:ext cx="8412480" cy="45354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308592" y="1417320"/>
            <a:ext cx="2240280" cy="4535424"/>
          </a:xfrm>
          <a:prstGeom prst="roundRect">
            <a:avLst/>
          </a:prstGeom>
          <a:solidFill>
            <a:srgbClr val="1C293E"/>
          </a:solidFill>
          <a:ln w="12700">
            <a:solidFill>
              <a:srgbClr val="374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582912" y="1719072"/>
            <a:ext cx="960120" cy="274320"/>
          </a:xfrm>
          <a:prstGeom prst="round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82912" y="1732788"/>
            <a:ext cx="960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B1220"/>
                </a:solidFill>
                <a:latin typeface="Arial"/>
              </a:rPr>
              <a:t>6 s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82912" y="219456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rial"/>
              </a:rPr>
              <a:t>Observed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2912" y="2688336"/>
            <a:ext cx="1691640" cy="24231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200">
                <a:solidFill>
                  <a:srgbClr val="EBF0F6"/>
                </a:solidFill>
                <a:latin typeface="Arial"/>
              </a:defRPr>
            </a:pPr>
            <a:r>
              <a:t>•  Right arm moves from a folded pose to a forward extension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200">
                <a:solidFill>
                  <a:srgbClr val="EBF0F6"/>
                </a:solidFill>
                <a:latin typeface="Arial"/>
              </a:defRPr>
            </a:pPr>
            <a:r>
              <a:t>•  Shoulder, elbow, and wrist move smoothly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200">
                <a:solidFill>
                  <a:srgbClr val="EBF0F6"/>
                </a:solidFill>
                <a:latin typeface="Arial"/>
              </a:defRPr>
            </a:pPr>
            <a:r>
              <a:t>•  Base and torso remain stationary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200">
                <a:solidFill>
                  <a:srgbClr val="EBF0F6"/>
                </a:solidFill>
                <a:latin typeface="Arial"/>
              </a:defRPr>
            </a:pPr>
            <a:r>
              <a:t>•  Trajectory completes without visible discontinuity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82912" y="5358384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BB7C4"/>
                </a:solidFill>
                <a:latin typeface="Arial"/>
              </a:rPr>
              <a:t>Click the video to 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1447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B7C3D3"/>
                </a:solidFill>
                <a:latin typeface="Arial"/>
              </a:rPr>
              <a:t>Scope: free-space trajectory execution; no grasping or object interaction is shown.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4869D"/>
                </a:solidFill>
                <a:latin typeface="Arial"/>
              </a:rPr>
              <a:t>TIAGo Robot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7E8C9E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77422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2434"/>
                </a:solidFill>
                <a:latin typeface="Arial"/>
              </a:rPr>
              <a:t>Demonstrated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16074"/>
                </a:solidFill>
                <a:latin typeface="Arial"/>
              </a:rPr>
              <a:t>The public simulation stack is ready for repeatable TIAGo experiments without access to the physical robot.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230368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C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100584" cy="1481328"/>
          </a:xfrm>
          <a:prstGeom prst="rect">
            <a:avLst/>
          </a:prstGeom>
          <a:solidFill>
            <a:srgbClr val="2BB7C4"/>
          </a:solidFill>
          <a:ln w="12700">
            <a:solidFill>
              <a:srgbClr val="2BB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0136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B7C4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7830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434"/>
                </a:solidFill>
                <a:latin typeface="Arial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194560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16074"/>
                </a:solidFill>
                <a:latin typeface="Arial"/>
              </a:rPr>
              <a:t>ROS 2 Humble and the TIAGo public stack were installed and validated in WSL2.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230368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C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100584" cy="1481328"/>
          </a:xfrm>
          <a:prstGeom prst="rect">
            <a:avLst/>
          </a:prstGeom>
          <a:solidFill>
            <a:srgbClr val="E77422"/>
          </a:solidFill>
          <a:ln w="12700">
            <a:solidFill>
              <a:srgbClr val="E77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80136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77422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17830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434"/>
                </a:solidFill>
                <a:latin typeface="Arial"/>
              </a:rPr>
              <a:t>Worlds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2194560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16074"/>
                </a:solidFill>
                <a:latin typeface="Arial"/>
              </a:rPr>
              <a:t>The robot was launched successfully in Hospital, Factory, and PAL Office environments.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01568"/>
            <a:ext cx="5230368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C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401568"/>
            <a:ext cx="100584" cy="1481328"/>
          </a:xfrm>
          <a:prstGeom prst="rect">
            <a:avLst/>
          </a:prstGeom>
          <a:solidFill>
            <a:srgbClr val="4FBE87"/>
          </a:solidFill>
          <a:ln w="12700">
            <a:solidFill>
              <a:srgbClr val="4F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64845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FBE87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363016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434"/>
                </a:solidFill>
                <a:latin typeface="Arial"/>
              </a:rPr>
              <a:t>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4041648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16074"/>
                </a:solidFill>
                <a:latin typeface="Arial"/>
              </a:rPr>
              <a:t>A target pose was selected in RViz2 and executed as point-to-point motion in Gazebo.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401568"/>
            <a:ext cx="5230368" cy="14813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C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401568"/>
            <a:ext cx="100584" cy="148132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64845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67EEA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363016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2434"/>
                </a:solidFill>
                <a:latin typeface="Arial"/>
              </a:rPr>
              <a:t>Manipulation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4041648"/>
            <a:ext cx="397763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16074"/>
                </a:solidFill>
                <a:latin typeface="Arial"/>
              </a:rPr>
              <a:t>MoveIt 2 planned and executed a smooth right-arm trajectory in simulation.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440680"/>
            <a:ext cx="10808208" cy="658368"/>
          </a:xfrm>
          <a:prstGeom prst="roundRect">
            <a:avLst/>
          </a:prstGeom>
          <a:solidFill>
            <a:srgbClr val="141F32"/>
          </a:solidFill>
          <a:ln w="12700">
            <a:solidFill>
              <a:srgbClr val="14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63270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77422"/>
                </a:solidFill>
                <a:latin typeface="Arial"/>
              </a:rPr>
              <a:t>Next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623560"/>
            <a:ext cx="89611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rial"/>
              </a:rPr>
              <a:t>SLAM mapping  ·  custom environments  ·  object-aware manipulation  ·  validation on the physical TIAGo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4710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E8C9E"/>
                </a:solidFill>
                <a:latin typeface="Arial"/>
              </a:rPr>
              <a:t>TIAGo Robot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1967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7E8C9E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TIAGo Robot Simulation in ROS 2</dc:title>
  <dc:subject>Environment, Gazebo worlds, navigation, and MoveIt 2 demonstration</dc:subject>
  <dc:creator>Jun Wang</dc:creator>
  <cp:keywords>TIAGo, ROS 2, Gazebo, RViz2, Nav2, MoveIt 2</cp:keywords>
  <dc:description>Generated from validated simulation screenshots and demonstration videos.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