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dark.jpg"/>
          <p:cNvPicPr>
            <a:picLocks noChangeAspect="1"/>
          </p:cNvPicPr>
          <p:nvPr/>
        </p:nvPicPr>
        <p:blipFill>
          <a:blip r:embed="rId2"/>
          <a:srcRect l="2093" r="209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8368" y="566928"/>
            <a:ext cx="73152" cy="521208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71323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BB7C4"/>
                </a:solidFill>
                <a:latin typeface="Arial"/>
              </a:rPr>
              <a:t>TIAGO ROBOT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77724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8FAFC"/>
                </a:solidFill>
                <a:latin typeface="Arial"/>
              </a:rPr>
              <a:t>TIAGo Robot Simulation
in ROS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306324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EBF0F6"/>
                </a:solidFill>
                <a:latin typeface="Arial"/>
              </a:rPr>
              <a:t>Environment Setup, Gazebo Worlds,
Autonomous Navigation, and MoveIt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87552" y="4343400"/>
            <a:ext cx="214884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4357116"/>
            <a:ext cx="21488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SIMULATION DEMONSTRATION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482803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ROS 2 Humble  |  October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6080760"/>
            <a:ext cx="5029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B7C3D3"/>
                </a:solidFill>
                <a:latin typeface="Arial"/>
              </a:rPr>
              <a:t>PAL Robotics public TIAGo simulation stack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01 ·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Validated Simulation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A reproducible ROS 2 stack running on a Windows workstation through WSL2.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08760"/>
            <a:ext cx="64008" cy="960120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6550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HOST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4708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Windows + WSL2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0876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508760"/>
            <a:ext cx="64008" cy="96012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165506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LINUX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184708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Ubuntu 22.04.5 LTS · x86_64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74320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43200"/>
            <a:ext cx="64008" cy="960120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8895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ROBOTICS MIDDLEWARE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08152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ROS 2 Humble · Cyclone DDS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2743200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5968" y="2743200"/>
            <a:ext cx="64008" cy="96012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7136" y="2889504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SIMULATOR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7136" y="3081528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Gazebo Classic · WSLg / D3D12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977639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977639"/>
            <a:ext cx="64008" cy="960120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123943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ROBOT STACK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315967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PAL TIAGo public simulation
humble-devel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977639"/>
            <a:ext cx="3429000" cy="960120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15968" y="3977639"/>
            <a:ext cx="64008" cy="960120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17136" y="4123943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B7C3D3"/>
                </a:solidFill>
                <a:latin typeface="Arial"/>
              </a:rPr>
              <a:t>TOOLS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4315967"/>
            <a:ext cx="3108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RViz2 · Nav2 · MoveIt 2
ros2_control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92440" y="1554480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92440" y="1554480"/>
            <a:ext cx="73152" cy="530352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1673352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Nav2 / MoveIt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92440" y="2313432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2440" y="2313432"/>
            <a:ext cx="73152" cy="530352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21040" y="2432304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TIAGo ROS 2 Packages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2440" y="3072384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2440" y="3072384"/>
            <a:ext cx="73152" cy="530352"/>
          </a:xfrm>
          <a:prstGeom prst="rect">
            <a:avLst/>
          </a:prstGeom>
          <a:solidFill>
            <a:srgbClr val="4FBE87"/>
          </a:solidFill>
          <a:ln w="1270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21040" y="31912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ROS 2 Humble + Cyclone DDS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3831336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3831336"/>
            <a:ext cx="73152" cy="530352"/>
          </a:xfrm>
          <a:prstGeom prst="rect">
            <a:avLst/>
          </a:prstGeom>
          <a:solidFill>
            <a:srgbClr val="667EEA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950208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Ubuntu 22.04 on WSL2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92440" y="4590288"/>
            <a:ext cx="3429000" cy="530352"/>
          </a:xfrm>
          <a:prstGeom prst="roundRect">
            <a:avLst/>
          </a:prstGeom>
          <a:solidFill>
            <a:srgbClr val="1C293E"/>
          </a:solidFill>
          <a:ln w="19050">
            <a:solidFill>
              <a:srgbClr val="6C7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92440" y="4590288"/>
            <a:ext cx="73152" cy="530352"/>
          </a:xfrm>
          <a:prstGeom prst="rect">
            <a:avLst/>
          </a:prstGeom>
          <a:solidFill>
            <a:srgbClr val="6C7E94"/>
          </a:solidFill>
          <a:ln w="12700">
            <a:solidFill>
              <a:srgbClr val="6C7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4709160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8FAFC"/>
                </a:solidFill>
                <a:latin typeface="Arial"/>
              </a:rPr>
              <a:t>Windows Workstation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715000"/>
            <a:ext cx="3429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B7C3D3"/>
                </a:solidFill>
                <a:latin typeface="Arial"/>
              </a:rPr>
              <a:t>Public simulation — no physical robot required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01 · 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From User Input to Simulated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The same ROS 2 interfaces connect visualization, planning, controllers, and the virtual robot.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4519"/>
            <a:ext cx="2395728" cy="100584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RViz2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Goal pose or
interactive marker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27248" y="2624327"/>
            <a:ext cx="374903" cy="0"/>
          </a:xfrm>
          <a:prstGeom prst="line">
            <a:avLst/>
          </a:prstGeom>
          <a:ln w="27940">
            <a:solidFill>
              <a:srgbClr val="E774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575303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75303" y="1874519"/>
            <a:ext cx="2395728" cy="100584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39895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Nav2 / MoveIt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9895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Path or arm
trajectory planning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44183" y="2624327"/>
            <a:ext cx="374903" cy="0"/>
          </a:xfrm>
          <a:prstGeom prst="line">
            <a:avLst/>
          </a:prstGeom>
          <a:ln w="27940">
            <a:solidFill>
              <a:srgbClr val="E774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92238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38" y="1874519"/>
            <a:ext cx="2395728" cy="100584"/>
          </a:xfrm>
          <a:prstGeom prst="rect">
            <a:avLst/>
          </a:prstGeom>
          <a:solidFill>
            <a:srgbClr val="4FBE87"/>
          </a:solidFill>
          <a:ln w="1270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56830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ROS 2 Controllers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0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Velocity and joint
trajectory commands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61118" y="2624327"/>
            <a:ext cx="374903" cy="0"/>
          </a:xfrm>
          <a:prstGeom prst="line">
            <a:avLst/>
          </a:prstGeom>
          <a:ln w="27940">
            <a:solidFill>
              <a:srgbClr val="E774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409173" y="1874519"/>
            <a:ext cx="2395728" cy="1508760"/>
          </a:xfrm>
          <a:prstGeom prst="roundRect">
            <a:avLst/>
          </a:prstGeom>
          <a:solidFill>
            <a:srgbClr val="F8FAFC"/>
          </a:solidFill>
          <a:ln w="2286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9173" y="1874519"/>
            <a:ext cx="2395728" cy="100584"/>
          </a:xfrm>
          <a:prstGeom prst="rect">
            <a:avLst/>
          </a:prstGeom>
          <a:solidFill>
            <a:srgbClr val="667EEA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73765" y="2148839"/>
            <a:ext cx="20665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1A2434"/>
                </a:solidFill>
                <a:latin typeface="Arial"/>
              </a:rPr>
              <a:t>Gazebo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73765" y="2651759"/>
            <a:ext cx="20665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516074"/>
                </a:solidFill>
                <a:latin typeface="Arial"/>
              </a:rPr>
              <a:t>Physics, collision,
and robot motion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60520"/>
            <a:ext cx="9921240" cy="960120"/>
          </a:xfrm>
          <a:prstGeom prst="roundRect">
            <a:avLst/>
          </a:prstGeom>
          <a:solidFill>
            <a:srgbClr val="DEE7EF"/>
          </a:solidFill>
          <a:ln w="12700">
            <a:solidFill>
              <a:srgbClr val="CAD6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17320" y="43708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77422"/>
                </a:solidFill>
                <a:latin typeface="Arial"/>
              </a:rPr>
              <a:t>Feedback 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270248"/>
            <a:ext cx="79095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A2434"/>
                </a:solidFill>
                <a:latin typeface="Arial"/>
              </a:rPr>
              <a:t>Gazebo publishes joint states, odometry, laser scans, and TF back to ROS 2. RViz2 visualizes this feedback while planners continuously update their internal state.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715000"/>
            <a:ext cx="9921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516074"/>
                </a:solidFill>
                <a:latin typeface="Arial"/>
              </a:rPr>
              <a:t>Cyclone DDS transports ROS 2 messages between the running nodes.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/>
            </a:r>
            <a:r>
              <a:rPr sz="900" b="1">
                <a:solidFill>
                  <a:srgbClr val="7E8C9E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02 · GAZEBO WORLDS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Multiple Simulation Environments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The same TIAGo software stack was launched in three structurally different worlds.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508760"/>
            <a:ext cx="3657600" cy="4370832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spital.jpeg"/>
          <p:cNvPicPr>
            <a:picLocks noChangeAspect="1"/>
          </p:cNvPicPr>
          <p:nvPr/>
        </p:nvPicPr>
        <p:blipFill>
          <a:blip r:embed="rId2"/>
          <a:srcRect l="10264" r="10264"/>
          <a:stretch>
            <a:fillRect/>
          </a:stretch>
        </p:blipFill>
        <p:spPr>
          <a:xfrm>
            <a:off x="676656" y="1627632"/>
            <a:ext cx="3438144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17880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rial"/>
              </a:rPr>
              <a:t>Hospital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Long corridors and an irregular floor plan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58384"/>
            <a:ext cx="960120" cy="274320"/>
          </a:xfrm>
          <a:prstGeom prst="round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72100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WORLD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3984" y="1508760"/>
            <a:ext cx="3657600" cy="4370832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actory.jpeg"/>
          <p:cNvPicPr>
            <a:picLocks noChangeAspect="1"/>
          </p:cNvPicPr>
          <p:nvPr/>
        </p:nvPicPr>
        <p:blipFill>
          <a:blip r:embed="rId3"/>
          <a:srcRect l="10264" r="10264"/>
          <a:stretch>
            <a:fillRect/>
          </a:stretch>
        </p:blipFill>
        <p:spPr>
          <a:xfrm>
            <a:off x="4553712" y="1627632"/>
            <a:ext cx="3438144" cy="23317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8576" y="417880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rial"/>
              </a:rPr>
              <a:t>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461772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Large connected areas with multiple regions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08576" y="5358384"/>
            <a:ext cx="960120" cy="274320"/>
          </a:xfrm>
          <a:prstGeom prst="round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6" y="5372100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WORLD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508760"/>
            <a:ext cx="3657600" cy="4370832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l_office.jpeg"/>
          <p:cNvPicPr>
            <a:picLocks noChangeAspect="1"/>
          </p:cNvPicPr>
          <p:nvPr/>
        </p:nvPicPr>
        <p:blipFill>
          <a:blip r:embed="rId4"/>
          <a:srcRect l="10264" r="10264"/>
          <a:stretch>
            <a:fillRect/>
          </a:stretch>
        </p:blipFill>
        <p:spPr>
          <a:xfrm>
            <a:off x="8430768" y="1627632"/>
            <a:ext cx="3438144" cy="2331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485632" y="4178808"/>
            <a:ext cx="3246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F8FAFC"/>
                </a:solidFill>
                <a:latin typeface="Arial"/>
              </a:rPr>
              <a:t>PAL Office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85632" y="4617720"/>
            <a:ext cx="3246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Dense rooms, doors, and narrow passages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85632" y="5358384"/>
            <a:ext cx="96012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85632" y="5372100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WORLD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153912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B7C3D3"/>
                </a:solidFill>
                <a:latin typeface="Arial"/>
              </a:rPr>
              <a:t>World selection changes geometry while preserving the robot, controllers, and ROS 2 interfaces.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/>
            </a:r>
            <a:r>
              <a:rPr sz="900" b="1">
                <a:solidFill>
                  <a:srgbClr val="7E8C9E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03 ·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Nav2 Goal Selection in RViz2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The target pose is selected in RViz2; Nav2 converts it into motion commands for the simulated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389888"/>
            <a:ext cx="7059168" cy="48006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avigation_interfac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0419" y="1389888"/>
            <a:ext cx="6062328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" y="1426464"/>
            <a:ext cx="3584448" cy="4709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E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1719072"/>
            <a:ext cx="1371600" cy="274320"/>
          </a:xfrm>
          <a:prstGeom prst="round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32788"/>
            <a:ext cx="1371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RVIZ2 INTERFACE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21284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Visible information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633472"/>
            <a:ext cx="2944368" cy="21488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2D occupancy map of the office environment</a:t>
            </a:r>
          </a:p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Inflated cost regions around walls and obstacles</a:t>
            </a:r>
          </a:p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Live laser measurements around the robot</a:t>
            </a:r>
          </a:p>
          <a:p>
            <a:pPr>
              <a:lnSpc>
                <a:spcPct val="108000"/>
              </a:lnSpc>
              <a:spcAft>
                <a:spcPts val="1100"/>
              </a:spcAft>
              <a:defRPr sz="1400">
                <a:solidFill>
                  <a:srgbClr val="516074"/>
                </a:solidFill>
                <a:latin typeface="Arial"/>
              </a:defRPr>
            </a:pPr>
            <a:r>
              <a:t>•  Nav2 Goal tool for defining position and orientation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5074920"/>
            <a:ext cx="2926080" cy="658368"/>
          </a:xfrm>
          <a:prstGeom prst="roundRect">
            <a:avLst/>
          </a:prstGeom>
          <a:solidFill>
            <a:srgbClr val="E8EFF4"/>
          </a:solidFill>
          <a:ln w="12700">
            <a:solidFill>
              <a:srgbClr val="D4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5285232"/>
            <a:ext cx="261518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1A2434"/>
                </a:solidFill>
                <a:latin typeface="Arial"/>
              </a:rPr>
              <a:t/>
            </a:r>
            <a:r>
              <a:rPr sz="1400" b="1">
                <a:solidFill>
                  <a:srgbClr val="1A2434"/>
                </a:solidFill>
                <a:latin typeface="Arial"/>
              </a:rPr>
              <a:t>Nav2 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/>
            </a:r>
            <a:r>
              <a:rPr sz="900" b="1">
                <a:solidFill>
                  <a:srgbClr val="7E8C9E"/>
                </a:solidFill>
                <a:latin typeface="Arial"/>
              </a:rPr>
              <a:t>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84848" y="1536192"/>
            <a:ext cx="640080" cy="228600"/>
          </a:xfrm>
          <a:prstGeom prst="roundRect">
            <a:avLst/>
          </a:prstGeom>
          <a:noFill/>
          <a:ln w="3175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62672" y="1874519"/>
            <a:ext cx="1115568" cy="329184"/>
          </a:xfrm>
          <a:prstGeom prst="roundRect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NAV2 GOAL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7424928" y="1650492"/>
            <a:ext cx="237744" cy="388619"/>
          </a:xfrm>
          <a:prstGeom prst="line">
            <a:avLst/>
          </a:prstGeom>
          <a:ln w="25400">
            <a:solidFill>
              <a:srgbClr val="E774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03 ·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Navigation Execution in Gazebo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The video shows the physical execution result after a navigation target was issued.</a:t>
            </a:r>
          </a:p>
        </p:txBody>
      </p:sp>
      <p:pic>
        <p:nvPicPr>
          <p:cNvPr id="5" name="navigation_fc84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1792" y="1417320"/>
            <a:ext cx="8412480" cy="45354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08592" y="1417320"/>
            <a:ext cx="2240280" cy="4535424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82912" y="1719072"/>
            <a:ext cx="105156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82912" y="1732788"/>
            <a:ext cx="105156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12 s VIDEO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21945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rial"/>
              </a:rPr>
              <a:t>Observed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2912" y="2670048"/>
            <a:ext cx="1691640" cy="214884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Starts from rest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Moves smoothly through the office corridor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Turns toward the right-side passage</a:t>
            </a:r>
          </a:p>
          <a:p>
            <a:pPr>
              <a:lnSpc>
                <a:spcPct val="108000"/>
              </a:lnSpc>
              <a:spcAft>
                <a:spcPts val="1000"/>
              </a:spcAft>
              <a:defRPr sz="1300">
                <a:solidFill>
                  <a:srgbClr val="EBF0F6"/>
                </a:solidFill>
                <a:latin typeface="Arial"/>
              </a:defRPr>
            </a:pPr>
            <a:r>
              <a:t>•  Stops near the requested destination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2912" y="53583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B7C4"/>
                </a:solidFill>
                <a:latin typeface="Arial"/>
              </a:rPr>
              <a:t>Click the video to 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14476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7C3D3"/>
                </a:solidFill>
                <a:latin typeface="Arial"/>
              </a:rPr>
              <a:t>Scope: point-to-point navigation execution; the planning interface is shown on the previous slide.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/>
            </a:r>
            <a:r>
              <a:rPr sz="900" b="1">
                <a:solidFill>
                  <a:srgbClr val="7E8C9E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04 · MOVEIT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Interactive Arm Planning in RViz2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MoveIt 2 uses the current robot state and an interactive end-effector target to generate a joint trajectory.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371600"/>
            <a:ext cx="7315200" cy="48006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veit_interfac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789507"/>
            <a:ext cx="7315200" cy="396478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792" y="1417320"/>
            <a:ext cx="3310128" cy="46817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ED8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96112" y="1700784"/>
            <a:ext cx="1481328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14500"/>
            <a:ext cx="148132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MOTION PLANNING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176272"/>
            <a:ext cx="2468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Workflow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670048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688336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651760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Select the arm planning group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3328415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346703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3310127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Set the goal pose with the 6-DoF marker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986783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05071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968495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Generate a collision-aware trajectory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645152"/>
            <a:ext cx="320040" cy="320040"/>
          </a:xfrm>
          <a:prstGeom prst="ellipse">
            <a:avLst/>
          </a:prstGeom>
          <a:solidFill>
            <a:srgbClr val="E77422"/>
          </a:solidFill>
          <a:ln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63440"/>
            <a:ext cx="320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F8FAF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26864"/>
            <a:ext cx="21945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Execute through ros2_control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" y="5440680"/>
            <a:ext cx="2724912" cy="438912"/>
          </a:xfrm>
          <a:prstGeom prst="roundRect">
            <a:avLst/>
          </a:prstGeom>
          <a:solidFill>
            <a:srgbClr val="E8EFF4"/>
          </a:solidFill>
          <a:ln w="12700">
            <a:solidFill>
              <a:srgbClr val="D4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5568696"/>
            <a:ext cx="2542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2434"/>
                </a:solidFill>
                <a:latin typeface="Arial"/>
              </a:rPr>
              <a:t>Demo scope: free-space arm motion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/>
            </a:r>
            <a:r>
              <a:rPr sz="900" b="1">
                <a:solidFill>
                  <a:srgbClr val="7E8C9E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04 · MOVEIT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8FAFC"/>
                </a:solidFill>
                <a:latin typeface="Arial"/>
              </a:rPr>
              <a:t>Planned Arm Trajectory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7C3D3"/>
                </a:solidFill>
                <a:latin typeface="Arial"/>
              </a:rPr>
              <a:t>The generated trajectory is executed by the simulated TIAGo arm in Gazebo.</a:t>
            </a:r>
          </a:p>
        </p:txBody>
      </p:sp>
      <p:pic>
        <p:nvPicPr>
          <p:cNvPr id="5" name="manipualtion_e04a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21792" y="1417320"/>
            <a:ext cx="8412480" cy="453542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9308592" y="1417320"/>
            <a:ext cx="2240280" cy="4535424"/>
          </a:xfrm>
          <a:prstGeom prst="roundRect">
            <a:avLst/>
          </a:prstGeom>
          <a:solidFill>
            <a:srgbClr val="1C293E"/>
          </a:solidFill>
          <a:ln w="12700">
            <a:solidFill>
              <a:srgbClr val="374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582912" y="1719072"/>
            <a:ext cx="960120" cy="274320"/>
          </a:xfrm>
          <a:prstGeom prst="round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82912" y="1732788"/>
            <a:ext cx="96012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0B1220"/>
                </a:solidFill>
                <a:latin typeface="Arial"/>
              </a:rPr>
              <a:t>6 s VIDEO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82912" y="219456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8FAFC"/>
                </a:solidFill>
                <a:latin typeface="Arial"/>
              </a:rPr>
              <a:t>Observed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82912" y="2688336"/>
            <a:ext cx="1691640" cy="2423160"/>
          </a:xfrm>
          <a:prstGeom prst="rect">
            <a:avLst/>
          </a:prstGeom>
          <a:noFill/>
        </p:spPr>
        <p:txBody>
          <a:bodyPr wrap="square" lIns="27432" rIns="27432" tIns="27432" bIns="27432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Right arm moves from a folded pose to a forward extension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Shoulder, elbow, and wrist move smoothly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Base and torso remain stationary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200">
                <a:solidFill>
                  <a:srgbClr val="EBF0F6"/>
                </a:solidFill>
                <a:latin typeface="Arial"/>
              </a:defRPr>
            </a:pPr>
            <a:r>
              <a:t>•  Trajectory completes without visible discontinuity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2912" y="53583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2BB7C4"/>
                </a:solidFill>
                <a:latin typeface="Arial"/>
              </a:rPr>
              <a:t>Click the video to play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14476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B7C3D3"/>
                </a:solidFill>
                <a:latin typeface="Arial"/>
              </a:rPr>
              <a:t>Scope: free-space trajectory execution; no grasping or object interaction is shown.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4869D"/>
                </a:solidFill>
                <a:latin typeface="Arial"/>
              </a:rPr>
              <a:t>TIAGo Robot Simulation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4869D"/>
                </a:solidFill>
                <a:latin typeface="Arial"/>
              </a:rPr>
              <a:t/>
            </a:r>
            <a:r>
              <a:rPr sz="900" b="1">
                <a:solidFill>
                  <a:srgbClr val="7E8C9E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B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77422"/>
                </a:solidFill>
                <a:latin typeface="Arial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512064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1A2434"/>
                </a:solidFill>
                <a:latin typeface="Arial"/>
              </a:rPr>
              <a:t>Demonstrated Capabilities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60120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516074"/>
                </a:solidFill>
                <a:latin typeface="Arial"/>
              </a:rPr>
              <a:t>The public simulation stack is ready for repeatable TIAGo experiments without access to the physical robot.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54480"/>
            <a:ext cx="100584" cy="1481328"/>
          </a:xfrm>
          <a:prstGeom prst="rect">
            <a:avLst/>
          </a:prstGeom>
          <a:solidFill>
            <a:srgbClr val="2BB7C4"/>
          </a:solidFill>
          <a:ln w="12700">
            <a:solidFill>
              <a:srgbClr val="2BB7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013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BB7C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1783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7048" y="219456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ROS 2 Humble and the TIAGo public stack were installed and validated in WSL2.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100584" cy="1481328"/>
          </a:xfrm>
          <a:prstGeom prst="rect">
            <a:avLst/>
          </a:prstGeom>
          <a:solidFill>
            <a:srgbClr val="E77422"/>
          </a:solidFill>
          <a:ln w="12700">
            <a:solidFill>
              <a:srgbClr val="E774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77422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04888" y="17830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Worlds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4888" y="2194560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The robot was launched successfully in Hospital, Factory, and PAL Office environments.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3401568"/>
            <a:ext cx="100584" cy="1481328"/>
          </a:xfrm>
          <a:prstGeom prst="rect">
            <a:avLst/>
          </a:prstGeom>
          <a:solidFill>
            <a:srgbClr val="4FBE87"/>
          </a:solidFill>
          <a:ln w="12700">
            <a:solidFill>
              <a:srgbClr val="4FB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364845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FBE87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363016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27048" y="404164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A target pose was selected in RViz2 and executed as point-to-point motion in Gazebo.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401568"/>
            <a:ext cx="5230368" cy="14813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CD7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401568"/>
            <a:ext cx="100584" cy="1481328"/>
          </a:xfrm>
          <a:prstGeom prst="rect">
            <a:avLst/>
          </a:prstGeom>
          <a:solidFill>
            <a:srgbClr val="667EEA"/>
          </a:solidFill>
          <a:ln w="12700">
            <a:solidFill>
              <a:srgbClr val="667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3648456"/>
            <a:ext cx="502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667EEA"/>
                </a:solidFill>
                <a:latin typeface="Arial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3630168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A2434"/>
                </a:solidFill>
                <a:latin typeface="Arial"/>
              </a:rPr>
              <a:t>Manipulation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4041648"/>
            <a:ext cx="397763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16074"/>
                </a:solidFill>
                <a:latin typeface="Arial"/>
              </a:rPr>
              <a:t>MoveIt 2 planned and executed a smooth right-arm trajectory in simulation.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440680"/>
            <a:ext cx="10808208" cy="658368"/>
          </a:xfrm>
          <a:prstGeom prst="roundRect">
            <a:avLst/>
          </a:prstGeom>
          <a:solidFill>
            <a:srgbClr val="141F32"/>
          </a:solidFill>
          <a:ln w="12700">
            <a:solidFill>
              <a:srgbClr val="141F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632704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77422"/>
                </a:solidFill>
                <a:latin typeface="Arial"/>
              </a:rPr>
              <a:t>Next steps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623560"/>
            <a:ext cx="89611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8FAFC"/>
                </a:solidFill>
                <a:latin typeface="Arial"/>
              </a:rPr>
              <a:t>SLAM mapping  ·  custom environments  ·  object-aware manipulation  ·  validation on the physical TIAGo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547104"/>
            <a:ext cx="2926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E8C9E"/>
                </a:solidFill>
                <a:latin typeface="Arial"/>
              </a:rPr>
              <a:t>TIAGo Robot Simulation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18520" y="6519672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7E8C9E"/>
                </a:solidFill>
                <a:latin typeface="Arial"/>
              </a:rPr>
              <a:t/>
            </a:r>
            <a:r>
              <a:rPr sz="900" b="1">
                <a:solidFill>
                  <a:srgbClr val="7E8C9E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TIAGo Robot Simulation in ROS 2</dc:title>
  <dc:subject>Environment, Gazebo worlds, navigation, and MoveIt 2 demonstration</dc:subject>
  <dc:creator>Jun Wang</dc:creator>
  <cp:keywords>TIAGo, ROS 2, Gazebo, RViz2, Nav2, MoveIt 2</cp:keywords>
  <dc:description>Generated from validated simulation screenshots and demonstration videos.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